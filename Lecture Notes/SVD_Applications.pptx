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78" r:id="rId2"/>
    <p:sldId id="320" r:id="rId3"/>
    <p:sldId id="354" r:id="rId4"/>
    <p:sldId id="363" r:id="rId5"/>
    <p:sldId id="338" r:id="rId6"/>
    <p:sldId id="33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rtick Ramakrishnan" initials="KR" lastIdx="1" clrIdx="0">
    <p:extLst>
      <p:ext uri="{19B8F6BF-5375-455C-9EA6-DF929625EA0E}">
        <p15:presenceInfo xmlns:p15="http://schemas.microsoft.com/office/powerpoint/2012/main" userId="S::kartickr@iisc.ac.in::e6e2544a-ac75-402b-af01-9ed694cac6b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F9AC12-B88B-C74B-AF36-BD5B1598F8DF}" v="16" dt="2021-05-09T14:45:17.248"/>
    <p1510:client id="{5242CB37-54BD-458B-9C8D-38DFAE18E2A8}" v="7215" dt="2021-05-10T01:22:22.992"/>
    <p1510:client id="{5890A2B5-1715-3C4C-8810-3B1FA15F4DBE}" v="882" dt="2021-05-09T14:57:10.420"/>
    <p1510:client id="{6015C89F-C0B6-0000-A2DA-8324F2FDB44C}" v="46" dt="2021-05-15T08:36:48.9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334983-9AF7-4B8D-9388-9AABEA642B1C}" type="datetimeFigureOut">
              <a:rPr lang="en-IN" smtClean="0"/>
              <a:t>03/10/22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A3527B-D152-4428-BB16-38B54CC260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221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5C83E-4259-4870-80E0-C9E3D55123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AB901C-5B9E-4A9E-AC65-ED062ADA91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C44DF-A1BB-4BD2-8068-58244CF54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5361A-BDAD-49B4-8FA4-D58DB59E1DE8}" type="datetimeFigureOut">
              <a:rPr lang="en-IN" smtClean="0"/>
              <a:t>03/10/22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2807C-2030-46A8-BF50-1F97164F4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EDFF7-5EC6-49C8-B325-4C079678B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FA15-2178-49D3-9025-D316BF79D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800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D4826-84BC-4A9E-8725-0191974BE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6824749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E56E7-F331-4BC0-9454-0A12554A5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E0D1C-3B62-4DE0-9706-B77F119ED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5361A-BDAD-49B4-8FA4-D58DB59E1DE8}" type="datetimeFigureOut">
              <a:rPr lang="en-IN" smtClean="0"/>
              <a:t>03/10/22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0947C-A1D0-4EBB-9F1E-D2FAA207F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18B3D-7EDA-4237-9673-0E3B8D80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FA15-2178-49D3-9025-D316BF79DADE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41CBCC8-24D5-401C-BEAD-E8B2161FF24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2386"/>
          <a:stretch/>
        </p:blipFill>
        <p:spPr>
          <a:xfrm>
            <a:off x="9914052" y="29095"/>
            <a:ext cx="2277948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507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B35FD-3B8E-4F7B-9499-FEA81AF25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057D5-6F60-4881-91A4-2240FFB16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25E9E-3F5C-4309-98D7-C5D942B53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5361A-BDAD-49B4-8FA4-D58DB59E1DE8}" type="datetimeFigureOut">
              <a:rPr lang="en-IN" smtClean="0"/>
              <a:t>03/10/22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5BAC5-54AF-4B94-8E11-839EBD28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E97F7-F8AD-427B-9DDB-CF895113C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FA15-2178-49D3-9025-D316BF79D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907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BF7E2-5431-4624-A298-086FA362F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4AE66-2794-4F0A-88C2-BA0E24BE0F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5850C3-3829-4EBA-93AE-E0584D615D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5A49C1-20A6-4AEA-95DE-18E0C6FD7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5361A-BDAD-49B4-8FA4-D58DB59E1DE8}" type="datetimeFigureOut">
              <a:rPr lang="en-IN" smtClean="0"/>
              <a:t>03/10/22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6CD08-E8F3-4107-967A-EE734374D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182F6C-B789-4072-B4FA-050CFB02B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FA15-2178-49D3-9025-D316BF79D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779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3953-4EAE-43DD-BDF6-6542AD649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6CFFA5-016A-46C8-83EC-4DB0ECD14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55C3B7-A45F-4E6D-BA6C-219D5FFB2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243FE2-F8C2-42A4-99D1-F5706471CD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440E03-D087-41F4-99C7-9C14619077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2CA04F-E2CF-4B50-9BE7-DEDE33442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5361A-BDAD-49B4-8FA4-D58DB59E1DE8}" type="datetimeFigureOut">
              <a:rPr lang="en-IN" smtClean="0"/>
              <a:t>03/10/22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44FF8F-062E-4849-8FBE-6F2F50E4D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41728D-3961-4131-9CD8-F17230B3E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FA15-2178-49D3-9025-D316BF79D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391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31963-E6F5-4147-BCEA-F5D096798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6763DF-7BBD-4B78-8CB4-8B63EC7AB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5361A-BDAD-49B4-8FA4-D58DB59E1DE8}" type="datetimeFigureOut">
              <a:rPr lang="en-IN" smtClean="0"/>
              <a:t>03/10/22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7A0324-9404-4B06-B8BF-FFA5E9D80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AE6AF-3136-4F14-8B2A-F9DCB0B63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FA15-2178-49D3-9025-D316BF79D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962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233A62-A893-4530-B43A-7C681D9C6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5361A-BDAD-49B4-8FA4-D58DB59E1DE8}" type="datetimeFigureOut">
              <a:rPr lang="en-IN" smtClean="0"/>
              <a:t>03/10/22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A0FA6C-E6E7-4C74-9D98-A8BA54B4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3F3FD-1D72-4339-93AA-9D1711176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FA15-2178-49D3-9025-D316BF79D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491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A30D8-DCC1-465E-B33F-251295500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C1C57-5D5F-4914-937F-350A98FAB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8FD9B-E9DC-4504-94E8-10FEFE69D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A0DC9-C2A3-4892-AF00-93E3206E9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5361A-BDAD-49B4-8FA4-D58DB59E1DE8}" type="datetimeFigureOut">
              <a:rPr lang="en-IN" smtClean="0"/>
              <a:t>03/10/22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7C9CEB-563E-43D3-BD1B-FB9C9EE04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28021E-5763-4C18-BA70-6E86BA115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FA15-2178-49D3-9025-D316BF79D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302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6DB06-88E0-40F2-9DB2-D6EB106A1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2DD251-5DBF-46C4-90CE-987F931A61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75146B-39F3-4106-8957-0517052F38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1B4115-98E9-4CD2-A665-F0E41713C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5361A-BDAD-49B4-8FA4-D58DB59E1DE8}" type="datetimeFigureOut">
              <a:rPr lang="en-IN" smtClean="0"/>
              <a:t>03/10/22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D92792-CD26-4D4F-8ED5-92C82843C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3ED50-AE61-4558-A4C1-9B6E34B6B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FA15-2178-49D3-9025-D316BF79D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276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6CB89-D812-4DDB-BECC-C5A099C7D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8AEBA4-A0CA-41CE-AC4C-10B67570C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B289F-E87B-4776-96D1-45F0CF6C3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5361A-BDAD-49B4-8FA4-D58DB59E1DE8}" type="datetimeFigureOut">
              <a:rPr lang="en-IN" smtClean="0"/>
              <a:t>03/10/22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FCCAE-870A-46F4-B834-0EBFE2D67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6A338-0C3C-4CE8-9F06-477C12C2E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FA15-2178-49D3-9025-D316BF79D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9778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DF7D4E-DF63-42D6-AC96-CEE5C0625F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F0CF0A-7E80-4080-85FA-97C5A81EEB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3CE2-212D-4734-9456-8DEBEC7C6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5361A-BDAD-49B4-8FA4-D58DB59E1DE8}" type="datetimeFigureOut">
              <a:rPr lang="en-IN" smtClean="0"/>
              <a:t>03/10/22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963C1-7811-46C1-89A2-8AD352276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0CB48-4604-40C0-A645-5664E6D7A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FA15-2178-49D3-9025-D316BF79D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260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ED04D1-F21E-4FD7-9F23-C7F1B5A94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B41742-C829-4EA7-BC71-890975A98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28C7A-381E-42D0-A70A-0078EE2A22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35361A-BDAD-49B4-8FA4-D58DB59E1DE8}" type="datetimeFigureOut">
              <a:rPr lang="en-IN" smtClean="0"/>
              <a:t>03/10/22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D89E7-A9DB-4721-9E33-DEBC6A2C2C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42048-635F-432E-8663-AF6A4A4780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DFA15-2178-49D3-9025-D316BF79D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958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pixabay.com/en/flower-blue-iris-summer-garden-2517562/" TargetMode="External"/><Relationship Id="rId3" Type="http://schemas.openxmlformats.org/officeDocument/2006/relationships/image" Target="../media/image9.jpeg"/><Relationship Id="rId7" Type="http://schemas.openxmlformats.org/officeDocument/2006/relationships/image" Target="../media/image11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en.wikipedia.org/wiki/File:Iris_versicolor_3.jpg" TargetMode="External"/><Relationship Id="rId5" Type="http://schemas.openxmlformats.org/officeDocument/2006/relationships/image" Target="../media/image10.jpeg"/><Relationship Id="rId4" Type="http://schemas.openxmlformats.org/officeDocument/2006/relationships/hyperlink" Target="https://en.wikipedia.org/wiki/Iris_virginica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image" Target="../media/image227.png"/><Relationship Id="rId3" Type="http://schemas.openxmlformats.org/officeDocument/2006/relationships/hyperlink" Target="https://creativecommons.org/licenses/by-sa/3.0/" TargetMode="External"/><Relationship Id="rId7" Type="http://schemas.openxmlformats.org/officeDocument/2006/relationships/image" Target="../media/image10.jpeg"/><Relationship Id="rId12" Type="http://schemas.openxmlformats.org/officeDocument/2006/relationships/image" Target="../media/image226.png"/><Relationship Id="rId2" Type="http://schemas.openxmlformats.org/officeDocument/2006/relationships/hyperlink" Target="http://en.wikipedia.org/wiki/File:Iris_versicolor_3.jp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Iris_virginica" TargetMode="External"/><Relationship Id="rId11" Type="http://schemas.openxmlformats.org/officeDocument/2006/relationships/image" Target="../media/image225.png"/><Relationship Id="rId5" Type="http://schemas.openxmlformats.org/officeDocument/2006/relationships/image" Target="../media/image9.jpeg"/><Relationship Id="rId15" Type="http://schemas.openxmlformats.org/officeDocument/2006/relationships/image" Target="../media/image229.png"/><Relationship Id="rId10" Type="http://schemas.openxmlformats.org/officeDocument/2006/relationships/image" Target="../media/image12.emf"/><Relationship Id="rId4" Type="http://schemas.openxmlformats.org/officeDocument/2006/relationships/image" Target="../media/image8.png"/><Relationship Id="rId9" Type="http://schemas.openxmlformats.org/officeDocument/2006/relationships/hyperlink" Target="https://pixabay.com/en/flower-blue-iris-summer-garden-2517562/" TargetMode="External"/><Relationship Id="rId14" Type="http://schemas.openxmlformats.org/officeDocument/2006/relationships/image" Target="../media/image2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pixabay.com/en/flower-blue-iris-summer-garden-2517562/" TargetMode="External"/><Relationship Id="rId3" Type="http://schemas.openxmlformats.org/officeDocument/2006/relationships/hyperlink" Target="https://creativecommons.org/licenses/by-sa/3.0/" TargetMode="External"/><Relationship Id="rId7" Type="http://schemas.openxmlformats.org/officeDocument/2006/relationships/image" Target="../media/image11.jpeg"/><Relationship Id="rId2" Type="http://schemas.openxmlformats.org/officeDocument/2006/relationships/hyperlink" Target="http://en.wikipedia.org/wiki/File:Iris_versicolor_3.jpg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hyperlink" Target="https://en.wikipedia.org/wiki/Iris_virginica" TargetMode="External"/><Relationship Id="rId4" Type="http://schemas.openxmlformats.org/officeDocument/2006/relationships/image" Target="../media/image9.jpe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File:Iris_versicolor_3.jpg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hyperlink" Target="https://creativecommons.org/licenses/by-sa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4" descr="Close up of a red, blue and orange LED screen">
            <a:extLst>
              <a:ext uri="{FF2B5EF4-FFF2-40B4-BE49-F238E27FC236}">
                <a16:creationId xmlns:a16="http://schemas.microsoft.com/office/drawing/2014/main" id="{D1D93E49-F2E7-48D7-9DF4-2947604BB9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627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3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2DE36B-1795-4062-9C3B-DC70E0855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0" y="1122363"/>
            <a:ext cx="4695903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Singular Value Decomposition Applications</a:t>
            </a: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35123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D123047-20ED-4359-B602-4C550D712D19}"/>
              </a:ext>
            </a:extLst>
          </p:cNvPr>
          <p:cNvSpPr/>
          <p:nvPr/>
        </p:nvSpPr>
        <p:spPr>
          <a:xfrm>
            <a:off x="90000" y="900000"/>
            <a:ext cx="2711395" cy="48185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/>
              <a:t>Image Compression</a:t>
            </a:r>
            <a:endParaRPr lang="en-IN" i="1"/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31379208-916E-47BB-9805-F046B8E302B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83710" y="3917462"/>
            <a:ext cx="2323673" cy="2161006"/>
          </a:xfr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0A1E315-4D62-4B5C-9156-1B13F451BA7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872945" y="3925746"/>
            <a:ext cx="2323673" cy="21610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1EECF46-6A39-440F-819B-4781436D0649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20233" y="3926752"/>
            <a:ext cx="2325600" cy="216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149428D-0EDB-4455-BB02-C50901FB5878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5100630" y="3925746"/>
            <a:ext cx="2323673" cy="216100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2AF9126-49BC-418E-8DE5-DC816BCDB94C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2711395" y="3925746"/>
            <a:ext cx="2323673" cy="216100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66F07015-6E58-400B-A65D-439C8AD0F18A}"/>
              </a:ext>
            </a:extLst>
          </p:cNvPr>
          <p:cNvSpPr/>
          <p:nvPr/>
        </p:nvSpPr>
        <p:spPr>
          <a:xfrm>
            <a:off x="822036" y="3565236"/>
            <a:ext cx="1394691" cy="2516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ysClr val="windowText" lastClr="000000"/>
                </a:solidFill>
              </a:rPr>
              <a:t>Original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B17EC9E-517B-49F9-8179-88837A864277}"/>
              </a:ext>
            </a:extLst>
          </p:cNvPr>
          <p:cNvSpPr/>
          <p:nvPr/>
        </p:nvSpPr>
        <p:spPr>
          <a:xfrm>
            <a:off x="3287418" y="3565234"/>
            <a:ext cx="1394691" cy="2516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ysClr val="windowText" lastClr="000000"/>
                </a:solidFill>
              </a:rPr>
              <a:t>Rank 5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DEB5F56-C74D-42E8-8F56-942AD28DD956}"/>
              </a:ext>
            </a:extLst>
          </p:cNvPr>
          <p:cNvSpPr/>
          <p:nvPr/>
        </p:nvSpPr>
        <p:spPr>
          <a:xfrm>
            <a:off x="5615709" y="3565236"/>
            <a:ext cx="1394691" cy="2516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ysClr val="windowText" lastClr="000000"/>
                </a:solidFill>
              </a:rPr>
              <a:t>Rank 10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DAFA49C-1617-470B-8F2D-F6B2256D242E}"/>
              </a:ext>
            </a:extLst>
          </p:cNvPr>
          <p:cNvSpPr/>
          <p:nvPr/>
        </p:nvSpPr>
        <p:spPr>
          <a:xfrm>
            <a:off x="8009144" y="3565236"/>
            <a:ext cx="1394691" cy="2516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ysClr val="windowText" lastClr="000000"/>
                </a:solidFill>
              </a:rPr>
              <a:t>Rank 25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835D9D8-E3BF-4E44-A36F-A672AA544EF2}"/>
              </a:ext>
            </a:extLst>
          </p:cNvPr>
          <p:cNvSpPr/>
          <p:nvPr/>
        </p:nvSpPr>
        <p:spPr>
          <a:xfrm>
            <a:off x="10337435" y="3565235"/>
            <a:ext cx="1394691" cy="2516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ysClr val="windowText" lastClr="000000"/>
                </a:solidFill>
              </a:rPr>
              <a:t>Rank 50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ontent Placeholder 2">
                <a:extLst>
                  <a:ext uri="{FF2B5EF4-FFF2-40B4-BE49-F238E27FC236}">
                    <a16:creationId xmlns:a16="http://schemas.microsoft.com/office/drawing/2014/main" id="{612D380B-0443-4311-BB21-91EE1BFF8C3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841" y="1544555"/>
                <a:ext cx="11956114" cy="50132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b="1" i="0" smtClean="0">
                          <a:latin typeface="Cambria Math" panose="02040503050406030204" pitchFamily="18" charset="0"/>
                        </a:rPr>
                        <m:t>+…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b>
                        <m:sSubPr>
                          <m:ctrlPr>
                            <a:rPr lang="en-I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b>
                        <m:sSubPr>
                          <m:ctrlPr>
                            <a:rPr lang="en-I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sSub>
                        <m:sSubPr>
                          <m:ctrlPr>
                            <a:rPr lang="en-I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sSub>
                        <m:sSubPr>
                          <m:ctrlPr>
                            <a:rPr lang="en-I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+…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I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I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IN" b="1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b="1">
                          <a:latin typeface="Cambria Math" panose="02040503050406030204" pitchFamily="18" charset="0"/>
                        </a:rPr>
                        <m:t>+…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b>
                        <m:sSubPr>
                          <m:ctrlPr>
                            <a:rPr lang="en-I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b>
                        <m:sSubPr>
                          <m:ctrlPr>
                            <a:rPr lang="en-I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IN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1" i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IN" b="1"/>
              </a:p>
              <a:p>
                <a:r>
                  <a:rPr lang="en-IN" b="1" u="sng"/>
                  <a:t>Total Saving: </a:t>
                </a:r>
                <a:r>
                  <a:rPr lang="en-IN"/>
                  <a:t>Original A requires </a:t>
                </a:r>
                <a14:m>
                  <m:oMath xmlns:m="http://schemas.openxmlformats.org/officeDocument/2006/math">
                    <m:r>
                      <a:rPr lang="en-I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I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IN" b="1">
                    <a:solidFill>
                      <a:srgbClr val="002060"/>
                    </a:solidFill>
                  </a:rPr>
                  <a:t>  </a:t>
                </a:r>
                <a:r>
                  <a:rPr lang="en-IN"/>
                  <a:t>storage , reduced to </a:t>
                </a:r>
                <a14:m>
                  <m:oMath xmlns:m="http://schemas.openxmlformats.org/officeDocument/2006/math">
                    <m:r>
                      <a:rPr lang="en-I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I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×(</m:t>
                    </m:r>
                    <m:r>
                      <a:rPr lang="en-I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I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I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b="1"/>
              </a:p>
              <a:p>
                <a:pPr lvl="1"/>
                <a:endParaRPr lang="en-IN"/>
              </a:p>
              <a:p>
                <a:pPr lvl="1"/>
                <a:endParaRPr lang="en-IN"/>
              </a:p>
              <a:p>
                <a:pPr marL="457200" lvl="1" indent="0">
                  <a:buFont typeface="Arial" panose="020B0604020202020204" pitchFamily="34" charset="0"/>
                  <a:buNone/>
                </a:pPr>
                <a:endParaRPr lang="en-IN" b="1"/>
              </a:p>
              <a:p>
                <a:pPr marL="457200" lvl="1" indent="0">
                  <a:buNone/>
                </a:pPr>
                <a:endParaRPr lang="en-IN"/>
              </a:p>
            </p:txBody>
          </p:sp>
        </mc:Choice>
        <mc:Fallback xmlns="">
          <p:sp>
            <p:nvSpPr>
              <p:cNvPr id="49" name="Content Placeholder 2">
                <a:extLst>
                  <a:ext uri="{FF2B5EF4-FFF2-40B4-BE49-F238E27FC236}">
                    <a16:creationId xmlns:a16="http://schemas.microsoft.com/office/drawing/2014/main" id="{612D380B-0443-4311-BB21-91EE1BFF8C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41" y="1544555"/>
                <a:ext cx="11956114" cy="5013264"/>
              </a:xfrm>
              <a:prstGeom prst="rect">
                <a:avLst/>
              </a:prstGeom>
              <a:blipFill>
                <a:blip r:embed="rId7"/>
                <a:stretch>
                  <a:fillRect l="-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itle 1">
            <a:extLst>
              <a:ext uri="{FF2B5EF4-FFF2-40B4-BE49-F238E27FC236}">
                <a16:creationId xmlns:a16="http://schemas.microsoft.com/office/drawing/2014/main" id="{A056988B-4409-4803-A3B2-1AE47A9055EE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8176333" cy="736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400">
                <a:cs typeface="Calibri Light" panose="020F0302020204030204"/>
              </a:rPr>
              <a:t>Singular Value Decomposition</a:t>
            </a:r>
          </a:p>
        </p:txBody>
      </p:sp>
    </p:spTree>
    <p:extLst>
      <p:ext uri="{BB962C8B-B14F-4D97-AF65-F5344CB8AC3E}">
        <p14:creationId xmlns:p14="http://schemas.microsoft.com/office/powerpoint/2010/main" val="3627118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D123047-20ED-4359-B602-4C550D712D19}"/>
              </a:ext>
            </a:extLst>
          </p:cNvPr>
          <p:cNvSpPr/>
          <p:nvPr/>
        </p:nvSpPr>
        <p:spPr>
          <a:xfrm>
            <a:off x="90000" y="900000"/>
            <a:ext cx="2711395" cy="48185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/>
              <a:t>Fischer Iris Dataset</a:t>
            </a:r>
            <a:endParaRPr lang="en-IN" i="1"/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612D380B-0443-4311-BB21-91EE1BFF8C3E}"/>
              </a:ext>
            </a:extLst>
          </p:cNvPr>
          <p:cNvSpPr txBox="1">
            <a:spLocks/>
          </p:cNvSpPr>
          <p:nvPr/>
        </p:nvSpPr>
        <p:spPr>
          <a:xfrm>
            <a:off x="65841" y="1544555"/>
            <a:ext cx="11956114" cy="5013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365800E-E632-4794-8166-8118333C686B}"/>
              </a:ext>
            </a:extLst>
          </p:cNvPr>
          <p:cNvSpPr/>
          <p:nvPr/>
        </p:nvSpPr>
        <p:spPr>
          <a:xfrm>
            <a:off x="0" y="6494255"/>
            <a:ext cx="7368466" cy="3283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err="1"/>
              <a:t>DataSource</a:t>
            </a:r>
            <a:r>
              <a:rPr lang="en-IN"/>
              <a:t>: https://</a:t>
            </a:r>
            <a:r>
              <a:rPr lang="en-IN" err="1"/>
              <a:t>archive.ics.uci.edu</a:t>
            </a:r>
            <a:r>
              <a:rPr lang="en-IN"/>
              <a:t>/ml/machine-learning-databases/iris/</a:t>
            </a:r>
            <a:endParaRPr lang="en-IN" u="sng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02726EE-21E2-4C3E-8274-48E90FC60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0" y="1481262"/>
            <a:ext cx="5102077" cy="48275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/>
              <a:t>Imagine you are in a valley of Iris flowers.</a:t>
            </a:r>
          </a:p>
          <a:p>
            <a:pPr marL="0" indent="0">
              <a:buNone/>
            </a:pPr>
            <a:r>
              <a:rPr lang="en-IN"/>
              <a:t>You observe that there are some difference between the flowers shapes</a:t>
            </a:r>
          </a:p>
          <a:p>
            <a:pPr marL="0" indent="0">
              <a:buNone/>
            </a:pPr>
            <a:r>
              <a:rPr lang="en-IN"/>
              <a:t>	sepal length</a:t>
            </a:r>
          </a:p>
          <a:p>
            <a:pPr marL="0" indent="0">
              <a:buNone/>
            </a:pPr>
            <a:r>
              <a:rPr lang="en-IN"/>
              <a:t>	sepal width</a:t>
            </a:r>
          </a:p>
          <a:p>
            <a:pPr marL="0" indent="0">
              <a:buNone/>
            </a:pPr>
            <a:r>
              <a:rPr lang="en-IN"/>
              <a:t>	petal length</a:t>
            </a:r>
          </a:p>
          <a:p>
            <a:pPr marL="0" indent="0">
              <a:buNone/>
            </a:pPr>
            <a:r>
              <a:rPr lang="en-IN"/>
              <a:t>	petal width</a:t>
            </a:r>
          </a:p>
          <a:p>
            <a:pPr marL="0" indent="0">
              <a:buNone/>
            </a:pPr>
            <a:r>
              <a:rPr lang="en-IN"/>
              <a:t>How do you classify them?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9718E2-4A26-45C9-A13B-815F818FD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921386"/>
            <a:ext cx="6904595" cy="3642249"/>
          </a:xfrm>
          <a:prstGeom prst="rect">
            <a:avLst/>
          </a:prstGeom>
          <a:ln w="28575"/>
        </p:spPr>
      </p:pic>
      <p:pic>
        <p:nvPicPr>
          <p:cNvPr id="12" name="Picture 11" descr="A close up of a flower&#10;&#10;Description automatically generated with medium confidence">
            <a:extLst>
              <a:ext uri="{FF2B5EF4-FFF2-40B4-BE49-F238E27FC236}">
                <a16:creationId xmlns:a16="http://schemas.microsoft.com/office/drawing/2014/main" id="{BABE2C06-5C60-4891-8B03-A661735FD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834358" y="4626927"/>
            <a:ext cx="2200548" cy="196083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4" name="Picture 13" descr="A close up of a purple flower&#10;&#10;Description automatically generated with medium confidence">
            <a:extLst>
              <a:ext uri="{FF2B5EF4-FFF2-40B4-BE49-F238E27FC236}">
                <a16:creationId xmlns:a16="http://schemas.microsoft.com/office/drawing/2014/main" id="{20F8D686-BF14-4790-A093-760ED5DD12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501138" y="4657579"/>
            <a:ext cx="2200548" cy="180629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5" name="Picture 14" descr="A purple flower with green leaves&#10;&#10;Description automatically generated with medium confidence">
            <a:extLst>
              <a:ext uri="{FF2B5EF4-FFF2-40B4-BE49-F238E27FC236}">
                <a16:creationId xmlns:a16="http://schemas.microsoft.com/office/drawing/2014/main" id="{335F1644-F818-466C-9D28-D2225A29E2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154967" y="4626927"/>
            <a:ext cx="2213499" cy="181692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2F489329-5363-4FD1-B018-36E25587EE39}"/>
              </a:ext>
            </a:extLst>
          </p:cNvPr>
          <p:cNvGrpSpPr/>
          <p:nvPr/>
        </p:nvGrpSpPr>
        <p:grpSpPr>
          <a:xfrm>
            <a:off x="5154967" y="3038475"/>
            <a:ext cx="2223214" cy="1588452"/>
            <a:chOff x="5154967" y="3038475"/>
            <a:chExt cx="2223214" cy="158845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20E3360-E312-4E1E-8BAB-6F1AC0E7AA82}"/>
                </a:ext>
              </a:extLst>
            </p:cNvPr>
            <p:cNvSpPr/>
            <p:nvPr/>
          </p:nvSpPr>
          <p:spPr>
            <a:xfrm>
              <a:off x="6191250" y="3038475"/>
              <a:ext cx="257175" cy="238125"/>
            </a:xfrm>
            <a:prstGeom prst="rect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65D650B-C2F8-44B7-94C4-37ED7AF72C7E}"/>
                </a:ext>
              </a:extLst>
            </p:cNvPr>
            <p:cNvCxnSpPr/>
            <p:nvPr/>
          </p:nvCxnSpPr>
          <p:spPr>
            <a:xfrm flipH="1">
              <a:off x="5154967" y="3286430"/>
              <a:ext cx="1023332" cy="1310556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CE5C841-5269-4D48-86C0-6F495C98AF8C}"/>
                </a:ext>
              </a:extLst>
            </p:cNvPr>
            <p:cNvCxnSpPr/>
            <p:nvPr/>
          </p:nvCxnSpPr>
          <p:spPr>
            <a:xfrm>
              <a:off x="6448425" y="3276600"/>
              <a:ext cx="929756" cy="1350327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3FDF341-FDFD-434E-BA42-D6E7CDDE8E12}"/>
              </a:ext>
            </a:extLst>
          </p:cNvPr>
          <p:cNvGrpSpPr/>
          <p:nvPr/>
        </p:nvGrpSpPr>
        <p:grpSpPr>
          <a:xfrm>
            <a:off x="7481014" y="3107558"/>
            <a:ext cx="2220672" cy="1550021"/>
            <a:chOff x="5201674" y="3038475"/>
            <a:chExt cx="2176507" cy="1588452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3BD6188-048E-4F5D-8FF1-EB527E035CC1}"/>
                </a:ext>
              </a:extLst>
            </p:cNvPr>
            <p:cNvSpPr/>
            <p:nvPr/>
          </p:nvSpPr>
          <p:spPr>
            <a:xfrm>
              <a:off x="6191250" y="3038475"/>
              <a:ext cx="257175" cy="238125"/>
            </a:xfrm>
            <a:prstGeom prst="rect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DDE0134-8389-405B-B14E-940AE0194C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01674" y="3286430"/>
              <a:ext cx="976625" cy="127141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311FFC6-BE30-4130-B015-277D9431814C}"/>
                </a:ext>
              </a:extLst>
            </p:cNvPr>
            <p:cNvCxnSpPr/>
            <p:nvPr/>
          </p:nvCxnSpPr>
          <p:spPr>
            <a:xfrm>
              <a:off x="6448425" y="3276600"/>
              <a:ext cx="929756" cy="1350327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19C2778-DCE7-4538-84C9-68D71F9EA03A}"/>
              </a:ext>
            </a:extLst>
          </p:cNvPr>
          <p:cNvGrpSpPr/>
          <p:nvPr/>
        </p:nvGrpSpPr>
        <p:grpSpPr>
          <a:xfrm>
            <a:off x="9834359" y="2076805"/>
            <a:ext cx="2200547" cy="2550122"/>
            <a:chOff x="5281172" y="3038475"/>
            <a:chExt cx="2156782" cy="2613349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AB60F58-EB53-4EE9-A028-DE71D8D4CED7}"/>
                </a:ext>
              </a:extLst>
            </p:cNvPr>
            <p:cNvSpPr/>
            <p:nvPr/>
          </p:nvSpPr>
          <p:spPr>
            <a:xfrm>
              <a:off x="6191250" y="3038475"/>
              <a:ext cx="257175" cy="238125"/>
            </a:xfrm>
            <a:prstGeom prst="rect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E2F8C51-5075-4432-BDB0-B775A525E6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81172" y="3286430"/>
              <a:ext cx="897127" cy="2327723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9379ED8-CDEA-47CE-A33B-E33D3051B27D}"/>
                </a:ext>
              </a:extLst>
            </p:cNvPr>
            <p:cNvCxnSpPr>
              <a:cxnSpLocks/>
            </p:cNvCxnSpPr>
            <p:nvPr/>
          </p:nvCxnSpPr>
          <p:spPr>
            <a:xfrm>
              <a:off x="6448425" y="3276600"/>
              <a:ext cx="989529" cy="237522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78BD6C1-39EF-4EA5-BB6B-080D7340719A}"/>
              </a:ext>
            </a:extLst>
          </p:cNvPr>
          <p:cNvCxnSpPr>
            <a:cxnSpLocks/>
          </p:cNvCxnSpPr>
          <p:nvPr/>
        </p:nvCxnSpPr>
        <p:spPr>
          <a:xfrm flipH="1" flipV="1">
            <a:off x="8586609" y="5626125"/>
            <a:ext cx="307243" cy="24765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39417F6-6329-480E-BB19-0495DFA11D3B}"/>
              </a:ext>
            </a:extLst>
          </p:cNvPr>
          <p:cNvCxnSpPr>
            <a:cxnSpLocks/>
          </p:cNvCxnSpPr>
          <p:nvPr/>
        </p:nvCxnSpPr>
        <p:spPr>
          <a:xfrm flipH="1">
            <a:off x="8665698" y="5654667"/>
            <a:ext cx="174732" cy="16105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A7C7E1B-A70A-434E-B008-0EF96AA683E1}"/>
              </a:ext>
            </a:extLst>
          </p:cNvPr>
          <p:cNvCxnSpPr>
            <a:cxnSpLocks/>
          </p:cNvCxnSpPr>
          <p:nvPr/>
        </p:nvCxnSpPr>
        <p:spPr>
          <a:xfrm flipH="1">
            <a:off x="7792546" y="5654667"/>
            <a:ext cx="781112" cy="29261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itle 1">
            <a:extLst>
              <a:ext uri="{FF2B5EF4-FFF2-40B4-BE49-F238E27FC236}">
                <a16:creationId xmlns:a16="http://schemas.microsoft.com/office/drawing/2014/main" id="{2D89DF8A-8534-48CE-8481-B7FBF7F595E0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8176333" cy="736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400">
                <a:cs typeface="Calibri Light" panose="020F0302020204030204"/>
              </a:rPr>
              <a:t>Singular Value Decomposition</a:t>
            </a:r>
          </a:p>
        </p:txBody>
      </p:sp>
    </p:spTree>
    <p:extLst>
      <p:ext uri="{BB962C8B-B14F-4D97-AF65-F5344CB8AC3E}">
        <p14:creationId xmlns:p14="http://schemas.microsoft.com/office/powerpoint/2010/main" val="2853091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D123047-20ED-4359-B602-4C550D712D19}"/>
              </a:ext>
            </a:extLst>
          </p:cNvPr>
          <p:cNvSpPr/>
          <p:nvPr/>
        </p:nvSpPr>
        <p:spPr>
          <a:xfrm>
            <a:off x="90000" y="900000"/>
            <a:ext cx="2711395" cy="48185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/>
              <a:t>Fischer Iris Dataset</a:t>
            </a:r>
            <a:endParaRPr lang="en-IN" i="1"/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612D380B-0443-4311-BB21-91EE1BFF8C3E}"/>
              </a:ext>
            </a:extLst>
          </p:cNvPr>
          <p:cNvSpPr txBox="1">
            <a:spLocks/>
          </p:cNvSpPr>
          <p:nvPr/>
        </p:nvSpPr>
        <p:spPr>
          <a:xfrm>
            <a:off x="65841" y="1544555"/>
            <a:ext cx="11956114" cy="5013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365800E-E632-4794-8166-8118333C686B}"/>
              </a:ext>
            </a:extLst>
          </p:cNvPr>
          <p:cNvSpPr/>
          <p:nvPr/>
        </p:nvSpPr>
        <p:spPr>
          <a:xfrm>
            <a:off x="0" y="6494255"/>
            <a:ext cx="7368466" cy="3283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err="1"/>
              <a:t>DataSource</a:t>
            </a:r>
            <a:r>
              <a:rPr lang="en-IN"/>
              <a:t>: https://archive.ics.uci.edu/ml/machine-learning-databases/iris/</a:t>
            </a:r>
            <a:endParaRPr lang="en-IN" u="sn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E78077-79E4-4376-9264-D9D3A1A2DBD8}"/>
              </a:ext>
            </a:extLst>
          </p:cNvPr>
          <p:cNvSpPr txBox="1"/>
          <p:nvPr/>
        </p:nvSpPr>
        <p:spPr>
          <a:xfrm>
            <a:off x="1674000" y="7008000"/>
            <a:ext cx="91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2" tooltip="http://en.wikipedia.org/wiki/File:Iris_versicolor_3.jpg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3" tooltip="https://creativecommons.org/licenses/by-sa/3.0/"/>
              </a:rPr>
              <a:t>CC BY-SA</a:t>
            </a:r>
            <a:endParaRPr lang="en-IN" sz="9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9718E2-4A26-45C9-A13B-815F818FD0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921386"/>
            <a:ext cx="6904595" cy="3642249"/>
          </a:xfrm>
          <a:prstGeom prst="rect">
            <a:avLst/>
          </a:prstGeom>
          <a:ln w="28575"/>
        </p:spPr>
      </p:pic>
      <p:pic>
        <p:nvPicPr>
          <p:cNvPr id="12" name="Picture 11" descr="A close up of a flower&#10;&#10;Description automatically generated with medium confidence">
            <a:extLst>
              <a:ext uri="{FF2B5EF4-FFF2-40B4-BE49-F238E27FC236}">
                <a16:creationId xmlns:a16="http://schemas.microsoft.com/office/drawing/2014/main" id="{BABE2C06-5C60-4891-8B03-A661735FDD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9834358" y="4626927"/>
            <a:ext cx="2200548" cy="196083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4" name="Picture 13" descr="A close up of a purple flower&#10;&#10;Description automatically generated with medium confidence">
            <a:extLst>
              <a:ext uri="{FF2B5EF4-FFF2-40B4-BE49-F238E27FC236}">
                <a16:creationId xmlns:a16="http://schemas.microsoft.com/office/drawing/2014/main" id="{20F8D686-BF14-4790-A093-760ED5DD12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"/>
              </a:ext>
            </a:extLst>
          </a:blip>
          <a:stretch>
            <a:fillRect/>
          </a:stretch>
        </p:blipFill>
        <p:spPr>
          <a:xfrm>
            <a:off x="7501138" y="4657579"/>
            <a:ext cx="2200548" cy="180629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5" name="Picture 14" descr="A purple flower with green leaves&#10;&#10;Description automatically generated with medium confidence">
            <a:extLst>
              <a:ext uri="{FF2B5EF4-FFF2-40B4-BE49-F238E27FC236}">
                <a16:creationId xmlns:a16="http://schemas.microsoft.com/office/drawing/2014/main" id="{335F1644-F818-466C-9D28-D2225A29E2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5154967" y="4626927"/>
            <a:ext cx="2213499" cy="181692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2F489329-5363-4FD1-B018-36E25587EE39}"/>
              </a:ext>
            </a:extLst>
          </p:cNvPr>
          <p:cNvGrpSpPr/>
          <p:nvPr/>
        </p:nvGrpSpPr>
        <p:grpSpPr>
          <a:xfrm>
            <a:off x="5154967" y="3038475"/>
            <a:ext cx="2223214" cy="1588452"/>
            <a:chOff x="5154967" y="3038475"/>
            <a:chExt cx="2223214" cy="158845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20E3360-E312-4E1E-8BAB-6F1AC0E7AA82}"/>
                </a:ext>
              </a:extLst>
            </p:cNvPr>
            <p:cNvSpPr/>
            <p:nvPr/>
          </p:nvSpPr>
          <p:spPr>
            <a:xfrm>
              <a:off x="6191250" y="3038475"/>
              <a:ext cx="257175" cy="238125"/>
            </a:xfrm>
            <a:prstGeom prst="rect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65D650B-C2F8-44B7-94C4-37ED7AF72C7E}"/>
                </a:ext>
              </a:extLst>
            </p:cNvPr>
            <p:cNvCxnSpPr/>
            <p:nvPr/>
          </p:nvCxnSpPr>
          <p:spPr>
            <a:xfrm flipH="1">
              <a:off x="5154967" y="3286430"/>
              <a:ext cx="1023332" cy="1310556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CE5C841-5269-4D48-86C0-6F495C98AF8C}"/>
                </a:ext>
              </a:extLst>
            </p:cNvPr>
            <p:cNvCxnSpPr/>
            <p:nvPr/>
          </p:nvCxnSpPr>
          <p:spPr>
            <a:xfrm>
              <a:off x="6448425" y="3276600"/>
              <a:ext cx="929756" cy="1350327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3FDF341-FDFD-434E-BA42-D6E7CDDE8E12}"/>
              </a:ext>
            </a:extLst>
          </p:cNvPr>
          <p:cNvGrpSpPr/>
          <p:nvPr/>
        </p:nvGrpSpPr>
        <p:grpSpPr>
          <a:xfrm>
            <a:off x="7481014" y="3107558"/>
            <a:ext cx="2220672" cy="1550021"/>
            <a:chOff x="5201674" y="3038475"/>
            <a:chExt cx="2176507" cy="1588452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3BD6188-048E-4F5D-8FF1-EB527E035CC1}"/>
                </a:ext>
              </a:extLst>
            </p:cNvPr>
            <p:cNvSpPr/>
            <p:nvPr/>
          </p:nvSpPr>
          <p:spPr>
            <a:xfrm>
              <a:off x="6191250" y="3038475"/>
              <a:ext cx="257175" cy="238125"/>
            </a:xfrm>
            <a:prstGeom prst="rect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DDE0134-8389-405B-B14E-940AE0194C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01674" y="3286430"/>
              <a:ext cx="976625" cy="127141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311FFC6-BE30-4130-B015-277D9431814C}"/>
                </a:ext>
              </a:extLst>
            </p:cNvPr>
            <p:cNvCxnSpPr/>
            <p:nvPr/>
          </p:nvCxnSpPr>
          <p:spPr>
            <a:xfrm>
              <a:off x="6448425" y="3276600"/>
              <a:ext cx="929756" cy="1350327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19C2778-DCE7-4538-84C9-68D71F9EA03A}"/>
              </a:ext>
            </a:extLst>
          </p:cNvPr>
          <p:cNvGrpSpPr/>
          <p:nvPr/>
        </p:nvGrpSpPr>
        <p:grpSpPr>
          <a:xfrm>
            <a:off x="9834359" y="2076805"/>
            <a:ext cx="2200547" cy="2550122"/>
            <a:chOff x="5281172" y="3038475"/>
            <a:chExt cx="2156782" cy="2613349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AB60F58-EB53-4EE9-A028-DE71D8D4CED7}"/>
                </a:ext>
              </a:extLst>
            </p:cNvPr>
            <p:cNvSpPr/>
            <p:nvPr/>
          </p:nvSpPr>
          <p:spPr>
            <a:xfrm>
              <a:off x="6191250" y="3038475"/>
              <a:ext cx="257175" cy="238125"/>
            </a:xfrm>
            <a:prstGeom prst="rect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E2F8C51-5075-4432-BDB0-B775A525E6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81172" y="3286430"/>
              <a:ext cx="897127" cy="2327723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9379ED8-CDEA-47CE-A33B-E33D3051B27D}"/>
                </a:ext>
              </a:extLst>
            </p:cNvPr>
            <p:cNvCxnSpPr>
              <a:cxnSpLocks/>
            </p:cNvCxnSpPr>
            <p:nvPr/>
          </p:nvCxnSpPr>
          <p:spPr>
            <a:xfrm>
              <a:off x="6448425" y="3276600"/>
              <a:ext cx="989529" cy="237522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78BD6C1-39EF-4EA5-BB6B-080D7340719A}"/>
              </a:ext>
            </a:extLst>
          </p:cNvPr>
          <p:cNvCxnSpPr>
            <a:cxnSpLocks/>
          </p:cNvCxnSpPr>
          <p:nvPr/>
        </p:nvCxnSpPr>
        <p:spPr>
          <a:xfrm flipH="1" flipV="1">
            <a:off x="8586609" y="5626125"/>
            <a:ext cx="307243" cy="24765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39417F6-6329-480E-BB19-0495DFA11D3B}"/>
              </a:ext>
            </a:extLst>
          </p:cNvPr>
          <p:cNvCxnSpPr>
            <a:cxnSpLocks/>
          </p:cNvCxnSpPr>
          <p:nvPr/>
        </p:nvCxnSpPr>
        <p:spPr>
          <a:xfrm flipH="1">
            <a:off x="8665698" y="5654667"/>
            <a:ext cx="174732" cy="16105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A7C7E1B-A70A-434E-B008-0EF96AA683E1}"/>
              </a:ext>
            </a:extLst>
          </p:cNvPr>
          <p:cNvCxnSpPr>
            <a:cxnSpLocks/>
          </p:cNvCxnSpPr>
          <p:nvPr/>
        </p:nvCxnSpPr>
        <p:spPr>
          <a:xfrm flipH="1">
            <a:off x="7792546" y="5654667"/>
            <a:ext cx="781112" cy="29261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8061F17-84B4-47E4-89D6-C884CA6B921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8090" y="2102573"/>
            <a:ext cx="3057331" cy="4282186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7C3E94A9-14AA-47A6-B0A6-091031209C54}"/>
              </a:ext>
            </a:extLst>
          </p:cNvPr>
          <p:cNvGrpSpPr/>
          <p:nvPr/>
        </p:nvGrpSpPr>
        <p:grpSpPr>
          <a:xfrm>
            <a:off x="873750" y="1948732"/>
            <a:ext cx="800250" cy="4515142"/>
            <a:chOff x="873750" y="1948732"/>
            <a:chExt cx="800250" cy="451514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4B311E8-F2A6-451D-897D-1184305482D8}"/>
                </a:ext>
              </a:extLst>
            </p:cNvPr>
            <p:cNvCxnSpPr>
              <a:cxnSpLocks/>
            </p:cNvCxnSpPr>
            <p:nvPr/>
          </p:nvCxnSpPr>
          <p:spPr>
            <a:xfrm>
              <a:off x="873750" y="1948732"/>
              <a:ext cx="0" cy="451514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793E838-E52A-43F3-8DF7-325CF67BC72E}"/>
                </a:ext>
              </a:extLst>
            </p:cNvPr>
            <p:cNvCxnSpPr/>
            <p:nvPr/>
          </p:nvCxnSpPr>
          <p:spPr>
            <a:xfrm>
              <a:off x="896645" y="1970843"/>
              <a:ext cx="594804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E6B1185-3769-4F34-A2E6-FAA81D3DC050}"/>
                </a:ext>
              </a:extLst>
            </p:cNvPr>
            <p:cNvCxnSpPr/>
            <p:nvPr/>
          </p:nvCxnSpPr>
          <p:spPr>
            <a:xfrm>
              <a:off x="873750" y="6443853"/>
              <a:ext cx="80025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C1F1C8B-1B6C-4F58-895A-C0A452102FD4}"/>
              </a:ext>
            </a:extLst>
          </p:cNvPr>
          <p:cNvCxnSpPr>
            <a:cxnSpLocks/>
          </p:cNvCxnSpPr>
          <p:nvPr/>
        </p:nvCxnSpPr>
        <p:spPr>
          <a:xfrm>
            <a:off x="2750644" y="1986095"/>
            <a:ext cx="0" cy="4515142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A44FBF1-91D0-4535-B0ED-0FFF3CD3802E}"/>
              </a:ext>
            </a:extLst>
          </p:cNvPr>
          <p:cNvGrpSpPr/>
          <p:nvPr/>
        </p:nvGrpSpPr>
        <p:grpSpPr>
          <a:xfrm flipH="1">
            <a:off x="3565140" y="1979113"/>
            <a:ext cx="800250" cy="4515142"/>
            <a:chOff x="873750" y="1948732"/>
            <a:chExt cx="800250" cy="4515142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959A0CC-1D02-4496-8FD2-3A0800600E4E}"/>
                </a:ext>
              </a:extLst>
            </p:cNvPr>
            <p:cNvCxnSpPr>
              <a:cxnSpLocks/>
            </p:cNvCxnSpPr>
            <p:nvPr/>
          </p:nvCxnSpPr>
          <p:spPr>
            <a:xfrm>
              <a:off x="873750" y="1948732"/>
              <a:ext cx="0" cy="4515142"/>
            </a:xfrm>
            <a:prstGeom prst="line">
              <a:avLst/>
            </a:prstGeom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29C7832-60A7-4209-845B-1604A4A34817}"/>
                </a:ext>
              </a:extLst>
            </p:cNvPr>
            <p:cNvCxnSpPr/>
            <p:nvPr/>
          </p:nvCxnSpPr>
          <p:spPr>
            <a:xfrm>
              <a:off x="896645" y="1970843"/>
              <a:ext cx="594804" cy="0"/>
            </a:xfrm>
            <a:prstGeom prst="line">
              <a:avLst/>
            </a:prstGeom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39CE7B6-9846-44F1-A012-5CBDB824C9F5}"/>
                </a:ext>
              </a:extLst>
            </p:cNvPr>
            <p:cNvCxnSpPr/>
            <p:nvPr/>
          </p:nvCxnSpPr>
          <p:spPr>
            <a:xfrm>
              <a:off x="873750" y="6443853"/>
              <a:ext cx="800250" cy="0"/>
            </a:xfrm>
            <a:prstGeom prst="line">
              <a:avLst/>
            </a:prstGeom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E289466-D9B8-48A9-B5C7-8BF4FB0CE889}"/>
              </a:ext>
            </a:extLst>
          </p:cNvPr>
          <p:cNvGrpSpPr/>
          <p:nvPr/>
        </p:nvGrpSpPr>
        <p:grpSpPr>
          <a:xfrm flipH="1">
            <a:off x="1950393" y="1979113"/>
            <a:ext cx="800250" cy="4515142"/>
            <a:chOff x="873750" y="1948732"/>
            <a:chExt cx="800250" cy="4515142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FA9BB0A-0A25-4DB0-BF70-6CFA5EB4DE70}"/>
                </a:ext>
              </a:extLst>
            </p:cNvPr>
            <p:cNvCxnSpPr>
              <a:cxnSpLocks/>
            </p:cNvCxnSpPr>
            <p:nvPr/>
          </p:nvCxnSpPr>
          <p:spPr>
            <a:xfrm>
              <a:off x="873750" y="1948732"/>
              <a:ext cx="0" cy="451514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6C9DF03-803E-4C21-BEA0-CA155ED35197}"/>
                </a:ext>
              </a:extLst>
            </p:cNvPr>
            <p:cNvCxnSpPr/>
            <p:nvPr/>
          </p:nvCxnSpPr>
          <p:spPr>
            <a:xfrm>
              <a:off x="896645" y="1970843"/>
              <a:ext cx="594804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C936676-DA29-4DBB-8863-01B6FF97A87F}"/>
                </a:ext>
              </a:extLst>
            </p:cNvPr>
            <p:cNvCxnSpPr/>
            <p:nvPr/>
          </p:nvCxnSpPr>
          <p:spPr>
            <a:xfrm>
              <a:off x="873750" y="6443853"/>
              <a:ext cx="80025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AB02874-EEA1-4AA9-80AD-DC8115C34BE9}"/>
              </a:ext>
            </a:extLst>
          </p:cNvPr>
          <p:cNvGrpSpPr/>
          <p:nvPr/>
        </p:nvGrpSpPr>
        <p:grpSpPr>
          <a:xfrm>
            <a:off x="2799069" y="1962840"/>
            <a:ext cx="800250" cy="4515142"/>
            <a:chOff x="873750" y="1948732"/>
            <a:chExt cx="800250" cy="4515142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7FC3C61B-7430-488B-97A0-9A1D8291F5C1}"/>
                </a:ext>
              </a:extLst>
            </p:cNvPr>
            <p:cNvCxnSpPr>
              <a:cxnSpLocks/>
            </p:cNvCxnSpPr>
            <p:nvPr/>
          </p:nvCxnSpPr>
          <p:spPr>
            <a:xfrm>
              <a:off x="873750" y="1948732"/>
              <a:ext cx="0" cy="4515142"/>
            </a:xfrm>
            <a:prstGeom prst="line">
              <a:avLst/>
            </a:prstGeom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A3551E12-0AFD-408B-8160-2FB4BBA77FAF}"/>
                </a:ext>
              </a:extLst>
            </p:cNvPr>
            <p:cNvCxnSpPr/>
            <p:nvPr/>
          </p:nvCxnSpPr>
          <p:spPr>
            <a:xfrm>
              <a:off x="896645" y="1970843"/>
              <a:ext cx="594804" cy="0"/>
            </a:xfrm>
            <a:prstGeom prst="line">
              <a:avLst/>
            </a:prstGeom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13918F7-DE48-4203-9F9E-F19D0D03446F}"/>
                </a:ext>
              </a:extLst>
            </p:cNvPr>
            <p:cNvCxnSpPr/>
            <p:nvPr/>
          </p:nvCxnSpPr>
          <p:spPr>
            <a:xfrm>
              <a:off x="873750" y="6443853"/>
              <a:ext cx="800250" cy="0"/>
            </a:xfrm>
            <a:prstGeom prst="line">
              <a:avLst/>
            </a:prstGeom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8046652-06B1-432B-B892-65F297E25BDA}"/>
              </a:ext>
            </a:extLst>
          </p:cNvPr>
          <p:cNvCxnSpPr>
            <a:cxnSpLocks/>
          </p:cNvCxnSpPr>
          <p:nvPr/>
        </p:nvCxnSpPr>
        <p:spPr>
          <a:xfrm>
            <a:off x="2799069" y="1882066"/>
            <a:ext cx="1426231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FFFA591-21E8-42A1-ADA2-58A66062073E}"/>
                  </a:ext>
                </a:extLst>
              </p:cNvPr>
              <p:cNvSpPr/>
              <p:nvPr/>
            </p:nvSpPr>
            <p:spPr>
              <a:xfrm>
                <a:off x="1273875" y="1502700"/>
                <a:ext cx="985422" cy="27917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en-IN" b="1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FFFA591-21E8-42A1-ADA2-58A6606207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875" y="1502700"/>
                <a:ext cx="985422" cy="279178"/>
              </a:xfrm>
              <a:prstGeom prst="rect">
                <a:avLst/>
              </a:prstGeom>
              <a:blipFill>
                <a:blip r:embed="rId11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E110E8A-3083-482E-8F63-02D47A14405E}"/>
              </a:ext>
            </a:extLst>
          </p:cNvPr>
          <p:cNvCxnSpPr>
            <a:cxnSpLocks/>
          </p:cNvCxnSpPr>
          <p:nvPr/>
        </p:nvCxnSpPr>
        <p:spPr>
          <a:xfrm>
            <a:off x="716036" y="2102573"/>
            <a:ext cx="0" cy="4371661"/>
          </a:xfrm>
          <a:prstGeom prst="straightConnector1">
            <a:avLst/>
          </a:prstGeom>
          <a:ln w="38100">
            <a:solidFill>
              <a:srgbClr val="00206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D528B758-3370-4D9F-9318-CAC0FB86124A}"/>
                  </a:ext>
                </a:extLst>
              </p:cNvPr>
              <p:cNvSpPr/>
              <p:nvPr/>
            </p:nvSpPr>
            <p:spPr>
              <a:xfrm rot="16200000">
                <a:off x="-67300" y="3675776"/>
                <a:ext cx="985422" cy="27917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𝟏𝟓𝟎</m:t>
                      </m:r>
                    </m:oMath>
                  </m:oMathPara>
                </a14:m>
                <a:endParaRPr lang="en-IN" b="1"/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D528B758-3370-4D9F-9318-CAC0FB8612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67300" y="3675776"/>
                <a:ext cx="985422" cy="279178"/>
              </a:xfrm>
              <a:prstGeom prst="rect">
                <a:avLst/>
              </a:prstGeom>
              <a:blipFill>
                <a:blip r:embed="rId12"/>
                <a:stretch>
                  <a:fillRect r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D508B10-70D0-4E7D-9CE4-F33E3C36A80B}"/>
              </a:ext>
            </a:extLst>
          </p:cNvPr>
          <p:cNvCxnSpPr>
            <a:cxnSpLocks/>
          </p:cNvCxnSpPr>
          <p:nvPr/>
        </p:nvCxnSpPr>
        <p:spPr>
          <a:xfrm>
            <a:off x="4604640" y="2076805"/>
            <a:ext cx="0" cy="1080732"/>
          </a:xfrm>
          <a:prstGeom prst="straightConnector1">
            <a:avLst/>
          </a:prstGeom>
          <a:ln w="38100">
            <a:solidFill>
              <a:srgbClr val="00206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869F2144-B114-4444-AB6E-AA27520269AA}"/>
                  </a:ext>
                </a:extLst>
              </p:cNvPr>
              <p:cNvSpPr/>
              <p:nvPr/>
            </p:nvSpPr>
            <p:spPr>
              <a:xfrm rot="16200000">
                <a:off x="4371008" y="2452574"/>
                <a:ext cx="985422" cy="27917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𝟓𝟎</m:t>
                      </m:r>
                    </m:oMath>
                  </m:oMathPara>
                </a14:m>
                <a:endParaRPr lang="en-IN" b="1"/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869F2144-B114-4444-AB6E-AA27520269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371008" y="2452574"/>
                <a:ext cx="985422" cy="279178"/>
              </a:xfrm>
              <a:prstGeom prst="rect">
                <a:avLst/>
              </a:prstGeom>
              <a:blipFill>
                <a:blip r:embed="rId13"/>
                <a:stretch>
                  <a:fillRect r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807F284-A1E0-4482-9FDB-DE35942A121F}"/>
              </a:ext>
            </a:extLst>
          </p:cNvPr>
          <p:cNvCxnSpPr>
            <a:cxnSpLocks/>
          </p:cNvCxnSpPr>
          <p:nvPr/>
        </p:nvCxnSpPr>
        <p:spPr>
          <a:xfrm flipH="1">
            <a:off x="4569174" y="3198750"/>
            <a:ext cx="0" cy="1709704"/>
          </a:xfrm>
          <a:prstGeom prst="straightConnector1">
            <a:avLst/>
          </a:prstGeom>
          <a:ln w="38100">
            <a:solidFill>
              <a:srgbClr val="00206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C9E15BF2-444C-4192-8551-2D0C1C3DA615}"/>
                  </a:ext>
                </a:extLst>
              </p:cNvPr>
              <p:cNvSpPr/>
              <p:nvPr/>
            </p:nvSpPr>
            <p:spPr>
              <a:xfrm rot="16200000">
                <a:off x="4358635" y="3574519"/>
                <a:ext cx="985422" cy="27917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𝟓𝟎</m:t>
                      </m:r>
                    </m:oMath>
                  </m:oMathPara>
                </a14:m>
                <a:endParaRPr lang="en-IN" b="1"/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C9E15BF2-444C-4192-8551-2D0C1C3DA6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358635" y="3574519"/>
                <a:ext cx="985422" cy="279178"/>
              </a:xfrm>
              <a:prstGeom prst="rect">
                <a:avLst/>
              </a:prstGeom>
              <a:blipFill>
                <a:blip r:embed="rId13"/>
                <a:stretch>
                  <a:fillRect r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776AFE1B-BC66-4E84-BB5A-AD4CC41C1C0D}"/>
              </a:ext>
            </a:extLst>
          </p:cNvPr>
          <p:cNvCxnSpPr>
            <a:cxnSpLocks/>
          </p:cNvCxnSpPr>
          <p:nvPr/>
        </p:nvCxnSpPr>
        <p:spPr>
          <a:xfrm>
            <a:off x="4560988" y="4900760"/>
            <a:ext cx="0" cy="1492238"/>
          </a:xfrm>
          <a:prstGeom prst="straightConnector1">
            <a:avLst/>
          </a:prstGeom>
          <a:ln w="38100">
            <a:solidFill>
              <a:srgbClr val="00206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2EAFC73F-24C4-48D7-89B6-11B23538DE49}"/>
                  </a:ext>
                </a:extLst>
              </p:cNvPr>
              <p:cNvSpPr/>
              <p:nvPr/>
            </p:nvSpPr>
            <p:spPr>
              <a:xfrm rot="16200000">
                <a:off x="4327356" y="5276529"/>
                <a:ext cx="985422" cy="27917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𝟓𝟎</m:t>
                      </m:r>
                    </m:oMath>
                  </m:oMathPara>
                </a14:m>
                <a:endParaRPr lang="en-IN" b="1"/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2EAFC73F-24C4-48D7-89B6-11B23538DE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327356" y="5276529"/>
                <a:ext cx="985422" cy="279178"/>
              </a:xfrm>
              <a:prstGeom prst="rect">
                <a:avLst/>
              </a:prstGeom>
              <a:blipFill>
                <a:blip r:embed="rId14"/>
                <a:stretch>
                  <a:fillRect r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3929C9F3-5E45-4F56-BA8E-369B5C2C8856}"/>
                  </a:ext>
                </a:extLst>
              </p:cNvPr>
              <p:cNvSpPr/>
              <p:nvPr/>
            </p:nvSpPr>
            <p:spPr>
              <a:xfrm>
                <a:off x="2924057" y="1485575"/>
                <a:ext cx="985422" cy="279178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IN" b="1"/>
              </a:p>
            </p:txBody>
          </p:sp>
        </mc:Choice>
        <mc:Fallback xmlns="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3929C9F3-5E45-4F56-BA8E-369B5C2C88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4057" y="1485575"/>
                <a:ext cx="985422" cy="279178"/>
              </a:xfrm>
              <a:prstGeom prst="rect">
                <a:avLst/>
              </a:prstGeom>
              <a:blipFill>
                <a:blip r:embed="rId15"/>
                <a:stretch>
                  <a:fillRect b="-23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itle 1">
            <a:extLst>
              <a:ext uri="{FF2B5EF4-FFF2-40B4-BE49-F238E27FC236}">
                <a16:creationId xmlns:a16="http://schemas.microsoft.com/office/drawing/2014/main" id="{DAA88E73-D3D5-4D96-ADAD-9A7F85F6F7DE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8176333" cy="736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400">
                <a:cs typeface="Calibri Light" panose="020F0302020204030204"/>
              </a:rPr>
              <a:t>Singular Value Decomposition</a:t>
            </a:r>
          </a:p>
        </p:txBody>
      </p:sp>
    </p:spTree>
    <p:extLst>
      <p:ext uri="{BB962C8B-B14F-4D97-AF65-F5344CB8AC3E}">
        <p14:creationId xmlns:p14="http://schemas.microsoft.com/office/powerpoint/2010/main" val="705630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D123047-20ED-4359-B602-4C550D712D19}"/>
              </a:ext>
            </a:extLst>
          </p:cNvPr>
          <p:cNvSpPr/>
          <p:nvPr/>
        </p:nvSpPr>
        <p:spPr>
          <a:xfrm>
            <a:off x="90000" y="900000"/>
            <a:ext cx="2711395" cy="48185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/>
              <a:t>PCA</a:t>
            </a:r>
            <a:endParaRPr lang="en-IN" i="1"/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612D380B-0443-4311-BB21-91EE1BFF8C3E}"/>
              </a:ext>
            </a:extLst>
          </p:cNvPr>
          <p:cNvSpPr txBox="1">
            <a:spLocks/>
          </p:cNvSpPr>
          <p:nvPr/>
        </p:nvSpPr>
        <p:spPr>
          <a:xfrm>
            <a:off x="65841" y="1544555"/>
            <a:ext cx="11956114" cy="5013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E78077-79E4-4376-9264-D9D3A1A2DBD8}"/>
              </a:ext>
            </a:extLst>
          </p:cNvPr>
          <p:cNvSpPr txBox="1"/>
          <p:nvPr/>
        </p:nvSpPr>
        <p:spPr>
          <a:xfrm>
            <a:off x="1674000" y="7008000"/>
            <a:ext cx="91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2" tooltip="http://en.wikipedia.org/wiki/File:Iris_versicolor_3.jpg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3" tooltip="https://creativecommons.org/licenses/by-sa/3.0/"/>
              </a:rPr>
              <a:t>CC BY-SA</a:t>
            </a:r>
            <a:endParaRPr lang="en-IN" sz="9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C54C9EB-B928-474C-8A84-795665078AAB}"/>
              </a:ext>
            </a:extLst>
          </p:cNvPr>
          <p:cNvGrpSpPr/>
          <p:nvPr/>
        </p:nvGrpSpPr>
        <p:grpSpPr>
          <a:xfrm>
            <a:off x="9968140" y="1054937"/>
            <a:ext cx="2006481" cy="5262038"/>
            <a:chOff x="9265920" y="0"/>
            <a:chExt cx="2926080" cy="6744658"/>
          </a:xfrm>
        </p:grpSpPr>
        <p:pic>
          <p:nvPicPr>
            <p:cNvPr id="9" name="Picture 8" descr="A close up of a flower&#10;&#10;Description automatically generated with medium confidence">
              <a:extLst>
                <a:ext uri="{FF2B5EF4-FFF2-40B4-BE49-F238E27FC236}">
                  <a16:creationId xmlns:a16="http://schemas.microsoft.com/office/drawing/2014/main" id="{ED0787AE-06A3-484D-81AE-992629440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tretch>
              <a:fillRect/>
            </a:stretch>
          </p:blipFill>
          <p:spPr>
            <a:xfrm>
              <a:off x="9265920" y="4376280"/>
              <a:ext cx="2908960" cy="2368378"/>
            </a:xfrm>
            <a:prstGeom prst="rect">
              <a:avLst/>
            </a:prstGeom>
          </p:spPr>
        </p:pic>
        <p:pic>
          <p:nvPicPr>
            <p:cNvPr id="12" name="Picture 11" descr="A close up of a purple flower&#10;&#10;Description automatically generated with medium confidence">
              <a:extLst>
                <a:ext uri="{FF2B5EF4-FFF2-40B4-BE49-F238E27FC236}">
                  <a16:creationId xmlns:a16="http://schemas.microsoft.com/office/drawing/2014/main" id="{95DB2AFA-E701-4534-BF9C-6EFF324D107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2"/>
                </a:ext>
              </a:extLst>
            </a:blip>
            <a:stretch>
              <a:fillRect/>
            </a:stretch>
          </p:blipFill>
          <p:spPr>
            <a:xfrm>
              <a:off x="9265920" y="2194560"/>
              <a:ext cx="2908960" cy="2181720"/>
            </a:xfrm>
            <a:prstGeom prst="rect">
              <a:avLst/>
            </a:prstGeom>
          </p:spPr>
        </p:pic>
        <p:pic>
          <p:nvPicPr>
            <p:cNvPr id="15" name="Picture 14" descr="A purple flower with green leaves&#10;&#10;Description automatically generated with medium confidence">
              <a:extLst>
                <a:ext uri="{FF2B5EF4-FFF2-40B4-BE49-F238E27FC236}">
                  <a16:creationId xmlns:a16="http://schemas.microsoft.com/office/drawing/2014/main" id="{221C10ED-AC94-4C13-A7E8-3251C8D9114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8"/>
                </a:ext>
              </a:extLst>
            </a:blip>
            <a:stretch>
              <a:fillRect/>
            </a:stretch>
          </p:blipFill>
          <p:spPr>
            <a:xfrm>
              <a:off x="9265920" y="0"/>
              <a:ext cx="2926080" cy="2194560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BABF7481-3506-41DD-AD8B-FB3D47CC982C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9538" t="4813" r="7598" b="4203"/>
          <a:stretch/>
        </p:blipFill>
        <p:spPr>
          <a:xfrm>
            <a:off x="65841" y="2207146"/>
            <a:ext cx="7784732" cy="4287109"/>
          </a:xfrm>
          <a:prstGeom prst="rect">
            <a:avLst/>
          </a:prstGeom>
        </p:spPr>
      </p:pic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B1CF0D1A-30E7-4473-BBB1-53749ACFC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1" y="1467446"/>
            <a:ext cx="9845712" cy="2218510"/>
          </a:xfrm>
        </p:spPr>
        <p:txBody>
          <a:bodyPr/>
          <a:lstStyle/>
          <a:p>
            <a:r>
              <a:rPr lang="en-IN"/>
              <a:t>Data is of 4 dimensions: Sepal Length, Sepal Width, Petal Length, Petal Width . Aim is to reduce to 2 dimensions, using PCA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AB5AFD2-1852-44DA-AA36-3B0D53FAC23C}"/>
              </a:ext>
            </a:extLst>
          </p:cNvPr>
          <p:cNvSpPr/>
          <p:nvPr/>
        </p:nvSpPr>
        <p:spPr>
          <a:xfrm>
            <a:off x="7448620" y="6356412"/>
            <a:ext cx="4730429" cy="5365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100" u="sng"/>
              <a:t>*https://en.wikipedia.org/wiki/File:Iris_versicolor_3.jpg **https://en.wikipedia.org/wiki/File:Kosaciec_szczecinkowaty_Iris_setosa.jpg ***https://en.wikipedia.org/wiki/File:Iris_virginica.jpg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3BF971B8-F746-4608-956E-E520D4568CA7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8176333" cy="736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400">
                <a:cs typeface="Calibri Light" panose="020F0302020204030204"/>
              </a:rPr>
              <a:t>Singular Value Decomposition</a:t>
            </a:r>
          </a:p>
        </p:txBody>
      </p:sp>
    </p:spTree>
    <p:extLst>
      <p:ext uri="{BB962C8B-B14F-4D97-AF65-F5344CB8AC3E}">
        <p14:creationId xmlns:p14="http://schemas.microsoft.com/office/powerpoint/2010/main" val="3832307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2F7E3E5-A64B-4922-ACF9-8626BAEFAD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21" t="5015" r="8002"/>
          <a:stretch/>
        </p:blipFill>
        <p:spPr>
          <a:xfrm>
            <a:off x="7396984" y="2765518"/>
            <a:ext cx="4637922" cy="3717495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D123047-20ED-4359-B602-4C550D712D19}"/>
              </a:ext>
            </a:extLst>
          </p:cNvPr>
          <p:cNvSpPr/>
          <p:nvPr/>
        </p:nvSpPr>
        <p:spPr>
          <a:xfrm>
            <a:off x="90000" y="900000"/>
            <a:ext cx="3630662" cy="48185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Principal Component Analysis (PCA)</a:t>
            </a:r>
            <a:endParaRPr lang="en-IN" i="1" dirty="0"/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612D380B-0443-4311-BB21-91EE1BFF8C3E}"/>
              </a:ext>
            </a:extLst>
          </p:cNvPr>
          <p:cNvSpPr txBox="1">
            <a:spLocks/>
          </p:cNvSpPr>
          <p:nvPr/>
        </p:nvSpPr>
        <p:spPr>
          <a:xfrm>
            <a:off x="65841" y="1544555"/>
            <a:ext cx="11956114" cy="5013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365800E-E632-4794-8166-8118333C686B}"/>
              </a:ext>
            </a:extLst>
          </p:cNvPr>
          <p:cNvSpPr/>
          <p:nvPr/>
        </p:nvSpPr>
        <p:spPr>
          <a:xfrm>
            <a:off x="0" y="6494255"/>
            <a:ext cx="7368466" cy="3283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err="1"/>
              <a:t>DataSource</a:t>
            </a:r>
            <a:r>
              <a:rPr lang="en-IN"/>
              <a:t>: https://archive.ics.uci.edu/ml/machine-learning-databases/iris/</a:t>
            </a:r>
            <a:endParaRPr lang="en-IN" u="sn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E78077-79E4-4376-9264-D9D3A1A2DBD8}"/>
              </a:ext>
            </a:extLst>
          </p:cNvPr>
          <p:cNvSpPr txBox="1"/>
          <p:nvPr/>
        </p:nvSpPr>
        <p:spPr>
          <a:xfrm>
            <a:off x="1674000" y="7008000"/>
            <a:ext cx="91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://en.wikipedia.org/wiki/File:Iris_versicolor_3.jpg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sa/3.0/"/>
              </a:rPr>
              <a:t>CC BY-SA</a:t>
            </a:r>
            <a:endParaRPr lang="en-IN" sz="9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ontent Placeholder 16">
                <a:extLst>
                  <a:ext uri="{FF2B5EF4-FFF2-40B4-BE49-F238E27FC236}">
                    <a16:creationId xmlns:a16="http://schemas.microsoft.com/office/drawing/2014/main" id="{202726EE-21E2-4C3E-8274-48E90FC60C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890" y="1481262"/>
                <a:ext cx="7777214" cy="4665013"/>
              </a:xfrm>
            </p:spPr>
            <p:txBody>
              <a:bodyPr>
                <a:normAutofit/>
              </a:bodyPr>
              <a:lstStyle/>
              <a:p>
                <a:r>
                  <a:rPr lang="en-IN" u="sng" dirty="0"/>
                  <a:t>Algorithm:</a:t>
                </a:r>
              </a:p>
              <a:p>
                <a:pPr lvl="1"/>
                <a:r>
                  <a:rPr lang="en-IN" dirty="0"/>
                  <a:t>Create </a:t>
                </a:r>
                <a14:m>
                  <m:oMath xmlns:m="http://schemas.openxmlformats.org/officeDocument/2006/math">
                    <m:r>
                      <a:rPr lang="en-IN" b="1" i="1" dirty="0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IN" b="1" dirty="0"/>
                  <a:t> </a:t>
                </a:r>
                <a:r>
                  <a:rPr lang="en-IN" dirty="0"/>
                  <a:t> formed by using the m-measurements of n-variables</a:t>
                </a:r>
              </a:p>
              <a:p>
                <a:pPr lvl="1"/>
                <a:r>
                  <a:rPr lang="en-IN" dirty="0"/>
                  <a:t>Subtract mean for each measurement type.</a:t>
                </a:r>
              </a:p>
              <a:p>
                <a:pPr lvl="1"/>
                <a:r>
                  <a:rPr lang="en-IN" dirty="0"/>
                  <a:t>Find the SVD of </a:t>
                </a:r>
                <a14:m>
                  <m:oMath xmlns:m="http://schemas.openxmlformats.org/officeDocument/2006/math">
                    <m:r>
                      <a:rPr lang="en-IN" b="1" i="1" dirty="0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IN" dirty="0"/>
                  <a:t> </a:t>
                </a:r>
              </a:p>
              <a:p>
                <a:pPr lvl="1"/>
                <a:r>
                  <a:rPr lang="en-IN" dirty="0"/>
                  <a:t>To find the reduced dimensional representation of the given data we dominant left singular vectors</a:t>
                </a:r>
              </a:p>
              <a:p>
                <a:pPr lvl="2"/>
                <a:r>
                  <a:rPr lang="en-IN" dirty="0"/>
                  <a:t>Since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</m:acc>
                  </m:oMath>
                </a14:m>
                <a:r>
                  <a:rPr lang="en-IN" dirty="0"/>
                  <a:t> is orthonormal set of range of </a:t>
                </a:r>
                <a14:m>
                  <m:oMath xmlns:m="http://schemas.openxmlformats.org/officeDocument/2006/math">
                    <m:r>
                      <a:rPr lang="en-IN" b="1" i="1" dirty="0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IN" dirty="0"/>
                  <a:t>, using the first 2 singular vectors we can get the 2d reduced data.</a:t>
                </a:r>
              </a:p>
              <a:p>
                <a:pPr lvl="1"/>
                <a:r>
                  <a:rPr lang="en-IN" dirty="0"/>
                  <a:t>The reduced dimensional representation enables one to use clustering algorithms efficiently to group the data.</a:t>
                </a:r>
              </a:p>
              <a:p>
                <a:pPr marL="914400" lvl="2" indent="0"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17" name="Content Placeholder 16">
                <a:extLst>
                  <a:ext uri="{FF2B5EF4-FFF2-40B4-BE49-F238E27FC236}">
                    <a16:creationId xmlns:a16="http://schemas.microsoft.com/office/drawing/2014/main" id="{202726EE-21E2-4C3E-8274-48E90FC60C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890" y="1481262"/>
                <a:ext cx="7777214" cy="4665013"/>
              </a:xfrm>
              <a:blipFill>
                <a:blip r:embed="rId5"/>
                <a:stretch>
                  <a:fillRect l="-1468" t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1">
            <a:extLst>
              <a:ext uri="{FF2B5EF4-FFF2-40B4-BE49-F238E27FC236}">
                <a16:creationId xmlns:a16="http://schemas.microsoft.com/office/drawing/2014/main" id="{F0DBFDDC-592B-463D-9A39-471835E845EE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8176333" cy="736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400">
                <a:cs typeface="Calibri Light" panose="020F0302020204030204"/>
              </a:rPr>
              <a:t>Singular Value Decomposition</a:t>
            </a:r>
          </a:p>
        </p:txBody>
      </p:sp>
    </p:spTree>
    <p:extLst>
      <p:ext uri="{BB962C8B-B14F-4D97-AF65-F5344CB8AC3E}">
        <p14:creationId xmlns:p14="http://schemas.microsoft.com/office/powerpoint/2010/main" val="1188251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08093FBFC0EE40B8E619422C221DC0" ma:contentTypeVersion="0" ma:contentTypeDescription="Create a new document." ma:contentTypeScope="" ma:versionID="9516d0a7a0c7510325054266c1f755a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BFB7476-5215-486F-8DD4-40908A1E97EC}"/>
</file>

<file path=customXml/itemProps2.xml><?xml version="1.0" encoding="utf-8"?>
<ds:datastoreItem xmlns:ds="http://schemas.openxmlformats.org/officeDocument/2006/customXml" ds:itemID="{A9EC4C81-A773-4313-90DC-81A6A6F5A39F}"/>
</file>

<file path=customXml/itemProps3.xml><?xml version="1.0" encoding="utf-8"?>
<ds:datastoreItem xmlns:ds="http://schemas.openxmlformats.org/officeDocument/2006/customXml" ds:itemID="{80676E32-EA1F-4C34-8146-A1073B48359B}"/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395</Words>
  <Application>Microsoft Macintosh PowerPoint</Application>
  <PresentationFormat>Widescreen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Singular Value Decomposition Applications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Kartick Ramakrishnan</dc:creator>
  <cp:lastModifiedBy>Phani Motamarri</cp:lastModifiedBy>
  <cp:revision>14</cp:revision>
  <dcterms:created xsi:type="dcterms:W3CDTF">2021-03-22T03:47:26Z</dcterms:created>
  <dcterms:modified xsi:type="dcterms:W3CDTF">2022-10-03T09:42:53Z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0x0101000208093FBFC0EE40B8E619422C221DC0</vt:lpwstr>
  </property>
</Properties>
</file>